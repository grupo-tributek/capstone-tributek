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ora" charset="1" panose="00000500000000000000"/>
      <p:regular r:id="rId20"/>
    </p:embeddedFont>
    <p:embeddedFont>
      <p:font typeface="Lora Italic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.jpe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.jpe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8.pn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jpe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.jpe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jpe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jpe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jpe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Relationship Id="rId4" Target="../media/image41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3168" y="1621637"/>
            <a:ext cx="9753805" cy="3444868"/>
            <a:chOff x="0" y="0"/>
            <a:chExt cx="13005074" cy="4593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5074" cy="4593157"/>
            </a:xfrm>
            <a:custGeom>
              <a:avLst/>
              <a:gdLst/>
              <a:ahLst/>
              <a:cxnLst/>
              <a:rect r="r" b="b" t="t" l="l"/>
              <a:pathLst>
                <a:path h="4593157" w="13005074">
                  <a:moveTo>
                    <a:pt x="0" y="0"/>
                  </a:moveTo>
                  <a:lnTo>
                    <a:pt x="13005074" y="0"/>
                  </a:lnTo>
                  <a:lnTo>
                    <a:pt x="13005074" y="4593157"/>
                  </a:lnTo>
                  <a:lnTo>
                    <a:pt x="0" y="4593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03" r="-64527" b="-196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28600"/>
              <a:ext cx="13005074" cy="4821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379"/>
                </a:lnSpc>
              </a:pPr>
              <a:r>
                <a:rPr lang="en-US" sz="4900" spc="445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SISTEMA WEB  DE GESTIÓN CONTABLE PARA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68292" y="4194896"/>
            <a:ext cx="4863558" cy="2713217"/>
          </a:xfrm>
          <a:custGeom>
            <a:avLst/>
            <a:gdLst/>
            <a:ahLst/>
            <a:cxnLst/>
            <a:rect r="r" b="b" t="t" l="l"/>
            <a:pathLst>
              <a:path h="2713217" w="4863558">
                <a:moveTo>
                  <a:pt x="0" y="0"/>
                </a:moveTo>
                <a:lnTo>
                  <a:pt x="4863558" y="0"/>
                </a:lnTo>
                <a:lnTo>
                  <a:pt x="4863558" y="2713217"/>
                </a:lnTo>
                <a:lnTo>
                  <a:pt x="0" y="27132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4" t="-34697" r="0" b="-4624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40951" y="6999401"/>
            <a:ext cx="5718240" cy="496977"/>
            <a:chOff x="0" y="0"/>
            <a:chExt cx="7624320" cy="6626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4320" cy="662636"/>
            </a:xfrm>
            <a:custGeom>
              <a:avLst/>
              <a:gdLst/>
              <a:ahLst/>
              <a:cxnLst/>
              <a:rect r="r" b="b" t="t" l="l"/>
              <a:pathLst>
                <a:path h="662636" w="7624320">
                  <a:moveTo>
                    <a:pt x="0" y="0"/>
                  </a:moveTo>
                  <a:lnTo>
                    <a:pt x="7624320" y="0"/>
                  </a:lnTo>
                  <a:lnTo>
                    <a:pt x="7624320" y="662636"/>
                  </a:lnTo>
                  <a:lnTo>
                    <a:pt x="0" y="6626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5302" r="0" b="-5253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7624320" cy="662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BRANDON CASAS - NAZARET GONZÁLEZ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084408" y="1621637"/>
            <a:ext cx="8089816" cy="8089816"/>
          </a:xfrm>
          <a:custGeom>
            <a:avLst/>
            <a:gdLst/>
            <a:ahLst/>
            <a:cxnLst/>
            <a:rect r="r" b="b" t="t" l="l"/>
            <a:pathLst>
              <a:path h="8089816" w="8089816">
                <a:moveTo>
                  <a:pt x="0" y="0"/>
                </a:moveTo>
                <a:lnTo>
                  <a:pt x="8089815" y="0"/>
                </a:lnTo>
                <a:lnTo>
                  <a:pt x="8089815" y="8089816"/>
                </a:lnTo>
                <a:lnTo>
                  <a:pt x="0" y="80898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213915">
            <a:off x="15887932" y="-510769"/>
            <a:ext cx="4572583" cy="6179167"/>
          </a:xfrm>
          <a:custGeom>
            <a:avLst/>
            <a:gdLst/>
            <a:ahLst/>
            <a:cxnLst/>
            <a:rect r="r" b="b" t="t" l="l"/>
            <a:pathLst>
              <a:path h="6179167" w="4572583">
                <a:moveTo>
                  <a:pt x="0" y="0"/>
                </a:moveTo>
                <a:lnTo>
                  <a:pt x="4572583" y="0"/>
                </a:lnTo>
                <a:lnTo>
                  <a:pt x="4572583" y="6179167"/>
                </a:lnTo>
                <a:lnTo>
                  <a:pt x="0" y="61791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7184970">
            <a:off x="-42778" y="6623486"/>
            <a:ext cx="4504661" cy="3964102"/>
          </a:xfrm>
          <a:custGeom>
            <a:avLst/>
            <a:gdLst/>
            <a:ahLst/>
            <a:cxnLst/>
            <a:rect r="r" b="b" t="t" l="l"/>
            <a:pathLst>
              <a:path h="3964102" w="4504661">
                <a:moveTo>
                  <a:pt x="0" y="0"/>
                </a:moveTo>
                <a:lnTo>
                  <a:pt x="4504661" y="0"/>
                </a:lnTo>
                <a:lnTo>
                  <a:pt x="4504661" y="3964102"/>
                </a:lnTo>
                <a:lnTo>
                  <a:pt x="0" y="39641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8690" y="324673"/>
            <a:ext cx="3767246" cy="925330"/>
          </a:xfrm>
          <a:custGeom>
            <a:avLst/>
            <a:gdLst/>
            <a:ahLst/>
            <a:cxnLst/>
            <a:rect r="r" b="b" t="t" l="l"/>
            <a:pathLst>
              <a:path h="925330" w="3767246">
                <a:moveTo>
                  <a:pt x="0" y="0"/>
                </a:moveTo>
                <a:lnTo>
                  <a:pt x="3767245" y="0"/>
                </a:lnTo>
                <a:lnTo>
                  <a:pt x="3767245" y="925330"/>
                </a:lnTo>
                <a:lnTo>
                  <a:pt x="0" y="9253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616114">
            <a:off x="-2695654" y="-2743542"/>
            <a:ext cx="4572583" cy="6179167"/>
          </a:xfrm>
          <a:custGeom>
            <a:avLst/>
            <a:gdLst/>
            <a:ahLst/>
            <a:cxnLst/>
            <a:rect r="r" b="b" t="t" l="l"/>
            <a:pathLst>
              <a:path h="6179167" w="4572583">
                <a:moveTo>
                  <a:pt x="0" y="0"/>
                </a:moveTo>
                <a:lnTo>
                  <a:pt x="4572583" y="0"/>
                </a:lnTo>
                <a:lnTo>
                  <a:pt x="4572583" y="6179167"/>
                </a:lnTo>
                <a:lnTo>
                  <a:pt x="0" y="61791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099956">
            <a:off x="14675691" y="6374213"/>
            <a:ext cx="4504661" cy="3964102"/>
          </a:xfrm>
          <a:custGeom>
            <a:avLst/>
            <a:gdLst/>
            <a:ahLst/>
            <a:cxnLst/>
            <a:rect r="r" b="b" t="t" l="l"/>
            <a:pathLst>
              <a:path h="3964102" w="4504661">
                <a:moveTo>
                  <a:pt x="0" y="0"/>
                </a:moveTo>
                <a:lnTo>
                  <a:pt x="4504661" y="0"/>
                </a:lnTo>
                <a:lnTo>
                  <a:pt x="4504661" y="3964101"/>
                </a:lnTo>
                <a:lnTo>
                  <a:pt x="0" y="39641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966602" y="1089396"/>
            <a:ext cx="10354797" cy="838200"/>
            <a:chOff x="0" y="0"/>
            <a:chExt cx="13806396" cy="111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06396" cy="1117600"/>
            </a:xfrm>
            <a:custGeom>
              <a:avLst/>
              <a:gdLst/>
              <a:ahLst/>
              <a:cxnLst/>
              <a:rect r="r" b="b" t="t" l="l"/>
              <a:pathLst>
                <a:path h="1117600" w="13806396">
                  <a:moveTo>
                    <a:pt x="0" y="0"/>
                  </a:moveTo>
                  <a:lnTo>
                    <a:pt x="13806396" y="0"/>
                  </a:lnTo>
                  <a:lnTo>
                    <a:pt x="13806396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0154" r="-57627" b="-31869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3806396" cy="111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¿QUÉ ES LA PLATAFORMA</a:t>
              </a:r>
              <a:r>
                <a:rPr lang="en-US" sz="3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 WEB TRIBUTEK?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64289" y="1927596"/>
            <a:ext cx="9729326" cy="1981200"/>
            <a:chOff x="0" y="0"/>
            <a:chExt cx="12972435" cy="26415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72435" cy="2641599"/>
            </a:xfrm>
            <a:custGeom>
              <a:avLst/>
              <a:gdLst/>
              <a:ahLst/>
              <a:cxnLst/>
              <a:rect r="r" b="b" t="t" l="l"/>
              <a:pathLst>
                <a:path h="2641599" w="12972435">
                  <a:moveTo>
                    <a:pt x="0" y="0"/>
                  </a:moveTo>
                  <a:lnTo>
                    <a:pt x="12972435" y="0"/>
                  </a:lnTo>
                  <a:lnTo>
                    <a:pt x="12972435" y="2641599"/>
                  </a:lnTo>
                  <a:lnTo>
                    <a:pt x="0" y="26415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744" r="51269" b="204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2972435" cy="2632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_ </a:t>
              </a: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De</a:t>
              </a: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sarrollo de una plataforma web para centralizar y gestionar la información de los clientes de TRIBUTEK, facilitando la administración de documentos y servicios contables, tributarios y laborales.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2844083">
            <a:off x="7453076" y="4153355"/>
            <a:ext cx="1533776" cy="1980290"/>
          </a:xfrm>
          <a:custGeom>
            <a:avLst/>
            <a:gdLst/>
            <a:ahLst/>
            <a:cxnLst/>
            <a:rect r="r" b="b" t="t" l="l"/>
            <a:pathLst>
              <a:path h="1980290" w="1533776">
                <a:moveTo>
                  <a:pt x="0" y="0"/>
                </a:moveTo>
                <a:lnTo>
                  <a:pt x="1533776" y="0"/>
                </a:lnTo>
                <a:lnTo>
                  <a:pt x="1533776" y="1980290"/>
                </a:lnTo>
                <a:lnTo>
                  <a:pt x="0" y="19802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88715" y="4229095"/>
            <a:ext cx="1588172" cy="1819728"/>
          </a:xfrm>
          <a:custGeom>
            <a:avLst/>
            <a:gdLst/>
            <a:ahLst/>
            <a:cxnLst/>
            <a:rect r="r" b="b" t="t" l="l"/>
            <a:pathLst>
              <a:path h="1819728" w="1588172">
                <a:moveTo>
                  <a:pt x="0" y="0"/>
                </a:moveTo>
                <a:lnTo>
                  <a:pt x="1588172" y="0"/>
                </a:lnTo>
                <a:lnTo>
                  <a:pt x="1588172" y="1819728"/>
                </a:lnTo>
                <a:lnTo>
                  <a:pt x="0" y="18197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90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79282" y="4721725"/>
            <a:ext cx="624548" cy="402833"/>
          </a:xfrm>
          <a:custGeom>
            <a:avLst/>
            <a:gdLst/>
            <a:ahLst/>
            <a:cxnLst/>
            <a:rect r="r" b="b" t="t" l="l"/>
            <a:pathLst>
              <a:path h="402833" w="624548">
                <a:moveTo>
                  <a:pt x="0" y="0"/>
                </a:moveTo>
                <a:lnTo>
                  <a:pt x="624548" y="0"/>
                </a:lnTo>
                <a:lnTo>
                  <a:pt x="624548" y="402833"/>
                </a:lnTo>
                <a:lnTo>
                  <a:pt x="0" y="4028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67897" y="4721725"/>
            <a:ext cx="624548" cy="402833"/>
          </a:xfrm>
          <a:custGeom>
            <a:avLst/>
            <a:gdLst/>
            <a:ahLst/>
            <a:cxnLst/>
            <a:rect r="r" b="b" t="t" l="l"/>
            <a:pathLst>
              <a:path h="402833" w="624548">
                <a:moveTo>
                  <a:pt x="0" y="0"/>
                </a:moveTo>
                <a:lnTo>
                  <a:pt x="624548" y="0"/>
                </a:lnTo>
                <a:lnTo>
                  <a:pt x="624548" y="402833"/>
                </a:lnTo>
                <a:lnTo>
                  <a:pt x="0" y="4028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966602" y="6378204"/>
            <a:ext cx="10354797" cy="838200"/>
            <a:chOff x="0" y="0"/>
            <a:chExt cx="13806396" cy="111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06396" cy="1117600"/>
            </a:xfrm>
            <a:custGeom>
              <a:avLst/>
              <a:gdLst/>
              <a:ahLst/>
              <a:cxnLst/>
              <a:rect r="r" b="b" t="t" l="l"/>
              <a:pathLst>
                <a:path h="1117600" w="13806396">
                  <a:moveTo>
                    <a:pt x="0" y="0"/>
                  </a:moveTo>
                  <a:lnTo>
                    <a:pt x="13806396" y="0"/>
                  </a:lnTo>
                  <a:lnTo>
                    <a:pt x="13806396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0154" r="-57627" b="-31869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3806396" cy="111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PROBL</a:t>
              </a:r>
              <a:r>
                <a:rPr lang="en-US" sz="3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EMÁTICA ACTUAL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66602" y="7216404"/>
            <a:ext cx="9839539" cy="1981200"/>
            <a:chOff x="0" y="0"/>
            <a:chExt cx="13119386" cy="26415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19385" cy="2641599"/>
            </a:xfrm>
            <a:custGeom>
              <a:avLst/>
              <a:gdLst/>
              <a:ahLst/>
              <a:cxnLst/>
              <a:rect r="r" b="b" t="t" l="l"/>
              <a:pathLst>
                <a:path h="2641599" w="13119385">
                  <a:moveTo>
                    <a:pt x="0" y="0"/>
                  </a:moveTo>
                  <a:lnTo>
                    <a:pt x="13119385" y="0"/>
                  </a:lnTo>
                  <a:lnTo>
                    <a:pt x="13119385" y="2641599"/>
                  </a:lnTo>
                  <a:lnTo>
                    <a:pt x="0" y="26415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744" r="51815" b="204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3119386" cy="2632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_ L</a:t>
              </a: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a información necesaria para gestionar los servicios de TRIBUTEK se encuentra distribuida entre diferentes medios y herramientas, dificultando su organización y seguimiento.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197220" y="4229095"/>
            <a:ext cx="3141028" cy="1730582"/>
          </a:xfrm>
          <a:custGeom>
            <a:avLst/>
            <a:gdLst/>
            <a:ahLst/>
            <a:cxnLst/>
            <a:rect r="r" b="b" t="t" l="l"/>
            <a:pathLst>
              <a:path h="1730582" w="3141028">
                <a:moveTo>
                  <a:pt x="0" y="0"/>
                </a:moveTo>
                <a:lnTo>
                  <a:pt x="3141027" y="0"/>
                </a:lnTo>
                <a:lnTo>
                  <a:pt x="3141027" y="1730582"/>
                </a:lnTo>
                <a:lnTo>
                  <a:pt x="0" y="17305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0456" t="-210866" r="-136615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44154">
            <a:off x="14576252" y="6949764"/>
            <a:ext cx="4572583" cy="6179167"/>
          </a:xfrm>
          <a:custGeom>
            <a:avLst/>
            <a:gdLst/>
            <a:ahLst/>
            <a:cxnLst/>
            <a:rect r="r" b="b" t="t" l="l"/>
            <a:pathLst>
              <a:path h="6179167" w="4572583">
                <a:moveTo>
                  <a:pt x="0" y="0"/>
                </a:moveTo>
                <a:lnTo>
                  <a:pt x="4572583" y="0"/>
                </a:lnTo>
                <a:lnTo>
                  <a:pt x="4572583" y="6179166"/>
                </a:lnTo>
                <a:lnTo>
                  <a:pt x="0" y="6179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84970">
            <a:off x="14833778" y="159367"/>
            <a:ext cx="4504661" cy="3964102"/>
          </a:xfrm>
          <a:custGeom>
            <a:avLst/>
            <a:gdLst/>
            <a:ahLst/>
            <a:cxnLst/>
            <a:rect r="r" b="b" t="t" l="l"/>
            <a:pathLst>
              <a:path h="3964102" w="4504661">
                <a:moveTo>
                  <a:pt x="0" y="0"/>
                </a:moveTo>
                <a:lnTo>
                  <a:pt x="4504661" y="0"/>
                </a:lnTo>
                <a:lnTo>
                  <a:pt x="4504661" y="3964102"/>
                </a:lnTo>
                <a:lnTo>
                  <a:pt x="0" y="39641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7315200" cy="838200"/>
            <a:chOff x="0" y="0"/>
            <a:chExt cx="9753600" cy="111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0154" r="-123125" b="-31869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753600" cy="111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¿POR QUÉ ES RELEVANT</a:t>
              </a:r>
              <a:r>
                <a:rPr lang="en-US" sz="3900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E?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2141418"/>
            <a:ext cx="7156999" cy="1693467"/>
          </a:xfrm>
          <a:custGeom>
            <a:avLst/>
            <a:gdLst/>
            <a:ahLst/>
            <a:cxnLst/>
            <a:rect r="r" b="b" t="t" l="l"/>
            <a:pathLst>
              <a:path h="1693467" w="7156999">
                <a:moveTo>
                  <a:pt x="0" y="0"/>
                </a:moveTo>
                <a:lnTo>
                  <a:pt x="7156999" y="0"/>
                </a:lnTo>
                <a:lnTo>
                  <a:pt x="7156999" y="1693467"/>
                </a:lnTo>
                <a:lnTo>
                  <a:pt x="0" y="1693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32051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343115"/>
            <a:ext cx="7761238" cy="1085850"/>
            <a:chOff x="0" y="0"/>
            <a:chExt cx="10348318" cy="14477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48318" cy="1447799"/>
            </a:xfrm>
            <a:custGeom>
              <a:avLst/>
              <a:gdLst/>
              <a:ahLst/>
              <a:cxnLst/>
              <a:rect r="r" b="b" t="t" l="l"/>
              <a:pathLst>
                <a:path h="1447799" w="10348318">
                  <a:moveTo>
                    <a:pt x="0" y="0"/>
                  </a:moveTo>
                  <a:lnTo>
                    <a:pt x="10348318" y="0"/>
                  </a:lnTo>
                  <a:lnTo>
                    <a:pt x="10348318" y="1447799"/>
                  </a:lnTo>
                  <a:lnTo>
                    <a:pt x="0" y="14477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077" r="38912" b="-450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0348318" cy="1438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Centralización de información y documentos.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07801" y="3834885"/>
            <a:ext cx="7156999" cy="1693467"/>
          </a:xfrm>
          <a:custGeom>
            <a:avLst/>
            <a:gdLst/>
            <a:ahLst/>
            <a:cxnLst/>
            <a:rect r="r" b="b" t="t" l="l"/>
            <a:pathLst>
              <a:path h="1693467" w="7156999">
                <a:moveTo>
                  <a:pt x="0" y="0"/>
                </a:moveTo>
                <a:lnTo>
                  <a:pt x="7156998" y="0"/>
                </a:lnTo>
                <a:lnTo>
                  <a:pt x="7156998" y="1693468"/>
                </a:lnTo>
                <a:lnTo>
                  <a:pt x="0" y="1693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32051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7801" y="5528353"/>
            <a:ext cx="7156999" cy="1693467"/>
          </a:xfrm>
          <a:custGeom>
            <a:avLst/>
            <a:gdLst/>
            <a:ahLst/>
            <a:cxnLst/>
            <a:rect r="r" b="b" t="t" l="l"/>
            <a:pathLst>
              <a:path h="1693467" w="7156999">
                <a:moveTo>
                  <a:pt x="0" y="0"/>
                </a:moveTo>
                <a:lnTo>
                  <a:pt x="7156998" y="0"/>
                </a:lnTo>
                <a:lnTo>
                  <a:pt x="7156998" y="1693467"/>
                </a:lnTo>
                <a:lnTo>
                  <a:pt x="0" y="1693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32051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7221820"/>
            <a:ext cx="7156999" cy="1693467"/>
          </a:xfrm>
          <a:custGeom>
            <a:avLst/>
            <a:gdLst/>
            <a:ahLst/>
            <a:cxnLst/>
            <a:rect r="r" b="b" t="t" l="l"/>
            <a:pathLst>
              <a:path h="1693467" w="7156999">
                <a:moveTo>
                  <a:pt x="0" y="0"/>
                </a:moveTo>
                <a:lnTo>
                  <a:pt x="7156999" y="0"/>
                </a:lnTo>
                <a:lnTo>
                  <a:pt x="7156999" y="1693468"/>
                </a:lnTo>
                <a:lnTo>
                  <a:pt x="0" y="1693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32051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4081482"/>
            <a:ext cx="7761238" cy="1035184"/>
            <a:chOff x="0" y="0"/>
            <a:chExt cx="10348318" cy="13802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48318" cy="1380245"/>
            </a:xfrm>
            <a:custGeom>
              <a:avLst/>
              <a:gdLst/>
              <a:ahLst/>
              <a:cxnLst/>
              <a:rect r="r" b="b" t="t" l="l"/>
              <a:pathLst>
                <a:path h="1380245" w="10348318">
                  <a:moveTo>
                    <a:pt x="0" y="0"/>
                  </a:moveTo>
                  <a:lnTo>
                    <a:pt x="10348318" y="0"/>
                  </a:lnTo>
                  <a:lnTo>
                    <a:pt x="10348318" y="1380245"/>
                  </a:lnTo>
                  <a:lnTo>
                    <a:pt x="0" y="13802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305" r="38912" b="-5217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0348318" cy="137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Mejor seguimiento de clientes y servicios.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5769183"/>
            <a:ext cx="7761238" cy="1085850"/>
            <a:chOff x="0" y="0"/>
            <a:chExt cx="10348318" cy="14477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48318" cy="1447799"/>
            </a:xfrm>
            <a:custGeom>
              <a:avLst/>
              <a:gdLst/>
              <a:ahLst/>
              <a:cxnLst/>
              <a:rect r="r" b="b" t="t" l="l"/>
              <a:pathLst>
                <a:path h="1447799" w="10348318">
                  <a:moveTo>
                    <a:pt x="0" y="0"/>
                  </a:moveTo>
                  <a:lnTo>
                    <a:pt x="10348318" y="0"/>
                  </a:lnTo>
                  <a:lnTo>
                    <a:pt x="10348318" y="1447799"/>
                  </a:lnTo>
                  <a:lnTo>
                    <a:pt x="0" y="14477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077" r="38912" b="-4507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0348318" cy="1438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Optimización de procesos mediante una solución informática.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7459945"/>
            <a:ext cx="7761238" cy="1085850"/>
            <a:chOff x="0" y="0"/>
            <a:chExt cx="10348318" cy="14477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48318" cy="1447799"/>
            </a:xfrm>
            <a:custGeom>
              <a:avLst/>
              <a:gdLst/>
              <a:ahLst/>
              <a:cxnLst/>
              <a:rect r="r" b="b" t="t" l="l"/>
              <a:pathLst>
                <a:path h="1447799" w="10348318">
                  <a:moveTo>
                    <a:pt x="0" y="0"/>
                  </a:moveTo>
                  <a:lnTo>
                    <a:pt x="10348318" y="0"/>
                  </a:lnTo>
                  <a:lnTo>
                    <a:pt x="10348318" y="1447799"/>
                  </a:lnTo>
                  <a:lnTo>
                    <a:pt x="0" y="14477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077" r="38912" b="-4507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0348318" cy="1438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Aplicación de ingeniería de software y gestión de datos en una problemática real.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789938" y="2295309"/>
            <a:ext cx="8469362" cy="5642712"/>
          </a:xfrm>
          <a:custGeom>
            <a:avLst/>
            <a:gdLst/>
            <a:ahLst/>
            <a:cxnLst/>
            <a:rect r="r" b="b" t="t" l="l"/>
            <a:pathLst>
              <a:path h="5642712" w="8469362">
                <a:moveTo>
                  <a:pt x="0" y="0"/>
                </a:moveTo>
                <a:lnTo>
                  <a:pt x="8469362" y="0"/>
                </a:lnTo>
                <a:lnTo>
                  <a:pt x="8469362" y="5642713"/>
                </a:lnTo>
                <a:lnTo>
                  <a:pt x="0" y="56427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069022">
            <a:off x="-3289402" y="-3196048"/>
            <a:ext cx="4572583" cy="6179167"/>
          </a:xfrm>
          <a:custGeom>
            <a:avLst/>
            <a:gdLst/>
            <a:ahLst/>
            <a:cxnLst/>
            <a:rect r="r" b="b" t="t" l="l"/>
            <a:pathLst>
              <a:path h="6179167" w="4572583">
                <a:moveTo>
                  <a:pt x="0" y="0"/>
                </a:moveTo>
                <a:lnTo>
                  <a:pt x="4572583" y="0"/>
                </a:lnTo>
                <a:lnTo>
                  <a:pt x="4572583" y="6179167"/>
                </a:lnTo>
                <a:lnTo>
                  <a:pt x="0" y="61791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72174"/>
            <a:ext cx="7237345" cy="734932"/>
            <a:chOff x="0" y="0"/>
            <a:chExt cx="9649793" cy="9799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49793" cy="979909"/>
            </a:xfrm>
            <a:custGeom>
              <a:avLst/>
              <a:gdLst/>
              <a:ahLst/>
              <a:cxnLst/>
              <a:rect r="r" b="b" t="t" l="l"/>
              <a:pathLst>
                <a:path h="979909" w="9649793">
                  <a:moveTo>
                    <a:pt x="0" y="0"/>
                  </a:moveTo>
                  <a:lnTo>
                    <a:pt x="9649793" y="0"/>
                  </a:lnTo>
                  <a:lnTo>
                    <a:pt x="9649793" y="979909"/>
                  </a:lnTo>
                  <a:lnTo>
                    <a:pt x="0" y="9799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7950" r="-125525" b="-37753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9649793" cy="979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RELACIÓN CON EL PERFIL DE EGRESO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505" y="1734730"/>
            <a:ext cx="6087981" cy="6724650"/>
            <a:chOff x="0" y="0"/>
            <a:chExt cx="8117309" cy="896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17309" cy="8966200"/>
            </a:xfrm>
            <a:custGeom>
              <a:avLst/>
              <a:gdLst/>
              <a:ahLst/>
              <a:cxnLst/>
              <a:rect r="r" b="b" t="t" l="l"/>
              <a:pathLst>
                <a:path h="8966200" w="8117309">
                  <a:moveTo>
                    <a:pt x="0" y="0"/>
                  </a:moveTo>
                  <a:lnTo>
                    <a:pt x="8117309" y="0"/>
                  </a:lnTo>
                  <a:lnTo>
                    <a:pt x="8117309" y="8966200"/>
                  </a:lnTo>
                  <a:lnTo>
                    <a:pt x="0" y="8966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49" r="22122" b="765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8117309" cy="8966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1.- </a:t>
              </a:r>
              <a:r>
                <a:rPr lang="en-US" sz="2700" u="sng">
                  <a:solidFill>
                    <a:srgbClr val="6E5249"/>
                  </a:solidFill>
                  <a:latin typeface="Lora"/>
                  <a:ea typeface="Lora"/>
                  <a:cs typeface="Lora"/>
                  <a:sym typeface="Lora"/>
                </a:rPr>
                <a:t>Desarrollo de software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Diseñar y desarrollar una solución web aplicando buenas prácticas y considerando su ciclo de vida.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2.- </a:t>
              </a:r>
              <a:r>
                <a:rPr lang="en-US" sz="2700" u="sng">
                  <a:solidFill>
                    <a:srgbClr val="6E5249"/>
                  </a:solidFill>
                  <a:latin typeface="Lora"/>
                  <a:ea typeface="Lora"/>
                  <a:cs typeface="Lora"/>
                  <a:sym typeface="Lora"/>
                </a:rPr>
                <a:t>Gestión de información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Diseñar una base de datos que permita almacenar, relacionar y gestionar información de clientes, empresas, documentos y servicios.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3.- </a:t>
              </a:r>
              <a:r>
                <a:rPr lang="en-US" sz="2700" u="sng">
                  <a:solidFill>
                    <a:srgbClr val="6E5249"/>
                  </a:solidFill>
                  <a:latin typeface="Lora"/>
                  <a:ea typeface="Lora"/>
                  <a:cs typeface="Lora"/>
                  <a:sym typeface="Lora"/>
                </a:rPr>
                <a:t>Ingeniería de requisitos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Identificar y transformar las necesidades reales de TRIBUTEK en requisitos y funcionalidades del sistema.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732633" y="2324318"/>
            <a:ext cx="4303444" cy="1140413"/>
          </a:xfrm>
          <a:custGeom>
            <a:avLst/>
            <a:gdLst/>
            <a:ahLst/>
            <a:cxnLst/>
            <a:rect r="r" b="b" t="t" l="l"/>
            <a:pathLst>
              <a:path h="1140413" w="4303444">
                <a:moveTo>
                  <a:pt x="0" y="0"/>
                </a:moveTo>
                <a:lnTo>
                  <a:pt x="4303444" y="0"/>
                </a:lnTo>
                <a:lnTo>
                  <a:pt x="4303444" y="1140413"/>
                </a:lnTo>
                <a:lnTo>
                  <a:pt x="0" y="11404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32633" y="4526848"/>
            <a:ext cx="4303444" cy="1140413"/>
          </a:xfrm>
          <a:custGeom>
            <a:avLst/>
            <a:gdLst/>
            <a:ahLst/>
            <a:cxnLst/>
            <a:rect r="r" b="b" t="t" l="l"/>
            <a:pathLst>
              <a:path h="1140413" w="4303444">
                <a:moveTo>
                  <a:pt x="0" y="0"/>
                </a:moveTo>
                <a:lnTo>
                  <a:pt x="4303444" y="0"/>
                </a:lnTo>
                <a:lnTo>
                  <a:pt x="4303444" y="1140413"/>
                </a:lnTo>
                <a:lnTo>
                  <a:pt x="0" y="11404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32633" y="7469555"/>
            <a:ext cx="4303444" cy="1140413"/>
          </a:xfrm>
          <a:custGeom>
            <a:avLst/>
            <a:gdLst/>
            <a:ahLst/>
            <a:cxnLst/>
            <a:rect r="r" b="b" t="t" l="l"/>
            <a:pathLst>
              <a:path h="1140413" w="4303444">
                <a:moveTo>
                  <a:pt x="0" y="0"/>
                </a:moveTo>
                <a:lnTo>
                  <a:pt x="4303444" y="0"/>
                </a:lnTo>
                <a:lnTo>
                  <a:pt x="4303444" y="1140412"/>
                </a:lnTo>
                <a:lnTo>
                  <a:pt x="0" y="1140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544458" y="1607106"/>
            <a:ext cx="6841769" cy="7953375"/>
            <a:chOff x="0" y="0"/>
            <a:chExt cx="9122359" cy="10604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22359" cy="10604500"/>
            </a:xfrm>
            <a:custGeom>
              <a:avLst/>
              <a:gdLst/>
              <a:ahLst/>
              <a:cxnLst/>
              <a:rect r="r" b="b" t="t" l="l"/>
              <a:pathLst>
                <a:path h="10604500" w="9122359">
                  <a:moveTo>
                    <a:pt x="0" y="0"/>
                  </a:moveTo>
                  <a:lnTo>
                    <a:pt x="9122359" y="0"/>
                  </a:lnTo>
                  <a:lnTo>
                    <a:pt x="9122359" y="10604500"/>
                  </a:lnTo>
                  <a:lnTo>
                    <a:pt x="0" y="10604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23" r="30702" b="801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122359" cy="1060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u="sng">
                  <a:solidFill>
                    <a:srgbClr val="6E5249"/>
                  </a:solidFill>
                  <a:latin typeface="Lora"/>
                  <a:ea typeface="Lora"/>
                  <a:cs typeface="Lora"/>
                  <a:sym typeface="Lora"/>
                </a:rPr>
                <a:t>Desarrollo de software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 Aplicar conocimientos de programación en el desarrollo de una solución web utilizada en un contexto real.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u="sng">
                  <a:solidFill>
                    <a:srgbClr val="6E5249"/>
                  </a:solidFill>
                  <a:latin typeface="Lora"/>
                  <a:ea typeface="Lora"/>
                  <a:cs typeface="Lora"/>
                  <a:sym typeface="Lora"/>
                </a:rPr>
                <a:t>Bases de datos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 Diseñar y trabajar con una base de datos que permita organizar y relacionar información empresarial.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 u="sng">
                  <a:solidFill>
                    <a:srgbClr val="6E5249"/>
                  </a:solidFill>
                  <a:latin typeface="Lora"/>
                  <a:ea typeface="Lora"/>
                  <a:cs typeface="Lora"/>
                  <a:sym typeface="Lora"/>
                </a:rPr>
                <a:t>Desarrollo profesional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 Fortalecer nuestra experiencia 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en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 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a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nálisis,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 d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is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ño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 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y desa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r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rollo d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 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s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oluc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io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ne</a:t>
              </a:r>
              <a:r>
                <a:rPr lang="en-US" sz="2700" u="none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s</a:t>
              </a:r>
              <a:r>
                <a:rPr lang="en-US" sz="27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 tecnológicas orientadas a necesidades reales de una organización.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7154125">
            <a:off x="14389470" y="6880812"/>
            <a:ext cx="3993514" cy="6050778"/>
          </a:xfrm>
          <a:custGeom>
            <a:avLst/>
            <a:gdLst/>
            <a:ahLst/>
            <a:cxnLst/>
            <a:rect r="r" b="b" t="t" l="l"/>
            <a:pathLst>
              <a:path h="6050778" w="3993514">
                <a:moveTo>
                  <a:pt x="0" y="0"/>
                </a:moveTo>
                <a:lnTo>
                  <a:pt x="3993514" y="0"/>
                </a:lnTo>
                <a:lnTo>
                  <a:pt x="3993514" y="6050779"/>
                </a:lnTo>
                <a:lnTo>
                  <a:pt x="0" y="60507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844083">
            <a:off x="16756850" y="4686857"/>
            <a:ext cx="707359" cy="913286"/>
          </a:xfrm>
          <a:custGeom>
            <a:avLst/>
            <a:gdLst/>
            <a:ahLst/>
            <a:cxnLst/>
            <a:rect r="r" b="b" t="t" l="l"/>
            <a:pathLst>
              <a:path h="913286" w="707359">
                <a:moveTo>
                  <a:pt x="0" y="0"/>
                </a:moveTo>
                <a:lnTo>
                  <a:pt x="707359" y="0"/>
                </a:lnTo>
                <a:lnTo>
                  <a:pt x="707359" y="913286"/>
                </a:lnTo>
                <a:lnTo>
                  <a:pt x="0" y="9132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744307" y="7620143"/>
            <a:ext cx="732446" cy="839237"/>
          </a:xfrm>
          <a:custGeom>
            <a:avLst/>
            <a:gdLst/>
            <a:ahLst/>
            <a:cxnLst/>
            <a:rect r="r" b="b" t="t" l="l"/>
            <a:pathLst>
              <a:path h="839237" w="732446">
                <a:moveTo>
                  <a:pt x="0" y="0"/>
                </a:moveTo>
                <a:lnTo>
                  <a:pt x="732446" y="0"/>
                </a:lnTo>
                <a:lnTo>
                  <a:pt x="732446" y="839237"/>
                </a:lnTo>
                <a:lnTo>
                  <a:pt x="0" y="8392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901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386227" y="2324318"/>
            <a:ext cx="1448605" cy="798124"/>
          </a:xfrm>
          <a:custGeom>
            <a:avLst/>
            <a:gdLst/>
            <a:ahLst/>
            <a:cxnLst/>
            <a:rect r="r" b="b" t="t" l="l"/>
            <a:pathLst>
              <a:path h="798124" w="1448605">
                <a:moveTo>
                  <a:pt x="0" y="0"/>
                </a:moveTo>
                <a:lnTo>
                  <a:pt x="1448605" y="0"/>
                </a:lnTo>
                <a:lnTo>
                  <a:pt x="1448605" y="798123"/>
                </a:lnTo>
                <a:lnTo>
                  <a:pt x="0" y="7981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0456" t="-210866" r="-136615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544458" y="687189"/>
            <a:ext cx="6339897" cy="1104901"/>
            <a:chOff x="0" y="0"/>
            <a:chExt cx="8453196" cy="14732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53196" cy="1473202"/>
            </a:xfrm>
            <a:custGeom>
              <a:avLst/>
              <a:gdLst/>
              <a:ahLst/>
              <a:cxnLst/>
              <a:rect r="r" b="b" t="t" l="l"/>
              <a:pathLst>
                <a:path h="1473202" w="8453196">
                  <a:moveTo>
                    <a:pt x="0" y="0"/>
                  </a:moveTo>
                  <a:lnTo>
                    <a:pt x="8453196" y="0"/>
                  </a:lnTo>
                  <a:lnTo>
                    <a:pt x="8453196" y="1473202"/>
                  </a:lnTo>
                  <a:lnTo>
                    <a:pt x="0" y="1473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047" r="-157449" b="-21763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453196" cy="1473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RELACIÓN CON NUESTROS INTERESES PROFESIONALES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2173744">
            <a:off x="6312309" y="1011523"/>
            <a:ext cx="5392902" cy="8171063"/>
          </a:xfrm>
          <a:custGeom>
            <a:avLst/>
            <a:gdLst/>
            <a:ahLst/>
            <a:cxnLst/>
            <a:rect r="r" b="b" t="t" l="l"/>
            <a:pathLst>
              <a:path h="8171063" w="5392902">
                <a:moveTo>
                  <a:pt x="0" y="0"/>
                </a:moveTo>
                <a:lnTo>
                  <a:pt x="5392901" y="0"/>
                </a:lnTo>
                <a:lnTo>
                  <a:pt x="5392901" y="8171063"/>
                </a:lnTo>
                <a:lnTo>
                  <a:pt x="0" y="8171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84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30570" y="9146619"/>
            <a:ext cx="4291806" cy="41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i="true">
                <a:solidFill>
                  <a:srgbClr val="BC8C7D"/>
                </a:solidFill>
                <a:latin typeface="Lora Italics"/>
                <a:ea typeface="Lora Italics"/>
                <a:cs typeface="Lora Italics"/>
                <a:sym typeface="Lora Italics"/>
              </a:rPr>
              <a:t>Extra - Calidad y seguridad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44154">
            <a:off x="13089514" y="7329832"/>
            <a:ext cx="4572583" cy="6179167"/>
          </a:xfrm>
          <a:custGeom>
            <a:avLst/>
            <a:gdLst/>
            <a:ahLst/>
            <a:cxnLst/>
            <a:rect r="r" b="b" t="t" l="l"/>
            <a:pathLst>
              <a:path h="6179167" w="4572583">
                <a:moveTo>
                  <a:pt x="0" y="0"/>
                </a:moveTo>
                <a:lnTo>
                  <a:pt x="4572583" y="0"/>
                </a:lnTo>
                <a:lnTo>
                  <a:pt x="4572583" y="6179167"/>
                </a:lnTo>
                <a:lnTo>
                  <a:pt x="0" y="61791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692264">
            <a:off x="-338704" y="-1528950"/>
            <a:ext cx="4504661" cy="3964102"/>
          </a:xfrm>
          <a:custGeom>
            <a:avLst/>
            <a:gdLst/>
            <a:ahLst/>
            <a:cxnLst/>
            <a:rect r="r" b="b" t="t" l="l"/>
            <a:pathLst>
              <a:path h="3964102" w="4504661">
                <a:moveTo>
                  <a:pt x="0" y="0"/>
                </a:moveTo>
                <a:lnTo>
                  <a:pt x="4504661" y="0"/>
                </a:lnTo>
                <a:lnTo>
                  <a:pt x="4504661" y="3964102"/>
                </a:lnTo>
                <a:lnTo>
                  <a:pt x="0" y="39641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888312" y="609600"/>
            <a:ext cx="10511375" cy="838200"/>
            <a:chOff x="0" y="0"/>
            <a:chExt cx="14015167" cy="111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15166" cy="1117600"/>
            </a:xfrm>
            <a:custGeom>
              <a:avLst/>
              <a:gdLst/>
              <a:ahLst/>
              <a:cxnLst/>
              <a:rect r="r" b="b" t="t" l="l"/>
              <a:pathLst>
                <a:path h="1117600" w="14015166">
                  <a:moveTo>
                    <a:pt x="0" y="0"/>
                  </a:moveTo>
                  <a:lnTo>
                    <a:pt x="14015166" y="0"/>
                  </a:lnTo>
                  <a:lnTo>
                    <a:pt x="14015166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40154" r="-55279" b="-31869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015167" cy="111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 FACTIBILIDAD DEL</a:t>
              </a:r>
              <a:r>
                <a:rPr lang="en-US" sz="3900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 PROYECTO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767982"/>
            <a:ext cx="11126536" cy="6751036"/>
            <a:chOff x="0" y="0"/>
            <a:chExt cx="14835381" cy="90013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35381" cy="9001382"/>
            </a:xfrm>
            <a:custGeom>
              <a:avLst/>
              <a:gdLst/>
              <a:ahLst/>
              <a:cxnLst/>
              <a:rect r="r" b="b" t="t" l="l"/>
              <a:pathLst>
                <a:path h="9001382" w="14835381">
                  <a:moveTo>
                    <a:pt x="0" y="0"/>
                  </a:moveTo>
                  <a:lnTo>
                    <a:pt x="14835381" y="0"/>
                  </a:lnTo>
                  <a:lnTo>
                    <a:pt x="14835381" y="9001382"/>
                  </a:lnTo>
                  <a:lnTo>
                    <a:pt x="0" y="900138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33" r="57388" b="766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4835381" cy="9001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1.- A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l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cance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def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inido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El proyecto se desarrollará por módulos, priorizando las funcionalidades principales de la plataforma.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2.- T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c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no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logí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a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s ac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c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es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i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bles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Se utilizarán tecnologías y herramientas de desarrollo web conocidas y disponibles para el equipo.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3.- Acc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so 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a 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la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o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r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gan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i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zac</a:t>
              </a:r>
              <a:r>
                <a:rPr lang="en-US" sz="27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i</a:t>
              </a: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ón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Se cuenta con comunicación directa con TRIBUTEK para levantar requerimientos y validar el funcionamiento del sistema.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4.- Desarrollo incremental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El sistema podrá construirse y validarse progresivamente durante el desarrollo del proyecto.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403320" y="3180557"/>
            <a:ext cx="6395160" cy="4665660"/>
          </a:xfrm>
          <a:custGeom>
            <a:avLst/>
            <a:gdLst/>
            <a:ahLst/>
            <a:cxnLst/>
            <a:rect r="r" b="b" t="t" l="l"/>
            <a:pathLst>
              <a:path h="4665660" w="6395160">
                <a:moveTo>
                  <a:pt x="0" y="0"/>
                </a:moveTo>
                <a:lnTo>
                  <a:pt x="6395160" y="0"/>
                </a:lnTo>
                <a:lnTo>
                  <a:pt x="6395160" y="4665660"/>
                </a:lnTo>
                <a:lnTo>
                  <a:pt x="0" y="46656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9502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069022">
            <a:off x="-2503615" y="6330729"/>
            <a:ext cx="4572583" cy="6179167"/>
          </a:xfrm>
          <a:custGeom>
            <a:avLst/>
            <a:gdLst/>
            <a:ahLst/>
            <a:cxnLst/>
            <a:rect r="r" b="b" t="t" l="l"/>
            <a:pathLst>
              <a:path h="6179167" w="4572583">
                <a:moveTo>
                  <a:pt x="0" y="0"/>
                </a:moveTo>
                <a:lnTo>
                  <a:pt x="4572584" y="0"/>
                </a:lnTo>
                <a:lnTo>
                  <a:pt x="4572584" y="6179167"/>
                </a:lnTo>
                <a:lnTo>
                  <a:pt x="0" y="61791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2529" y="461891"/>
            <a:ext cx="10354797" cy="838200"/>
            <a:chOff x="0" y="0"/>
            <a:chExt cx="13806396" cy="111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06396" cy="1117600"/>
            </a:xfrm>
            <a:custGeom>
              <a:avLst/>
              <a:gdLst/>
              <a:ahLst/>
              <a:cxnLst/>
              <a:rect r="r" b="b" t="t" l="l"/>
              <a:pathLst>
                <a:path h="1117600" w="13806396">
                  <a:moveTo>
                    <a:pt x="0" y="0"/>
                  </a:moveTo>
                  <a:lnTo>
                    <a:pt x="13806396" y="0"/>
                  </a:lnTo>
                  <a:lnTo>
                    <a:pt x="13806396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0154" r="-57627" b="-31869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806396" cy="111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u="sng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OBJETIVO GENERAL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92529" y="1202211"/>
            <a:ext cx="11414010" cy="1981200"/>
            <a:chOff x="0" y="0"/>
            <a:chExt cx="15218680" cy="26415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18680" cy="2641599"/>
            </a:xfrm>
            <a:custGeom>
              <a:avLst/>
              <a:gdLst/>
              <a:ahLst/>
              <a:cxnLst/>
              <a:rect r="r" b="b" t="t" l="l"/>
              <a:pathLst>
                <a:path h="2641599" w="15218680">
                  <a:moveTo>
                    <a:pt x="0" y="0"/>
                  </a:moveTo>
                  <a:lnTo>
                    <a:pt x="15218680" y="0"/>
                  </a:lnTo>
                  <a:lnTo>
                    <a:pt x="15218680" y="2641599"/>
                  </a:lnTo>
                  <a:lnTo>
                    <a:pt x="0" y="26415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44" r="58461" b="204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5218680" cy="2632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_ </a:t>
              </a: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De</a:t>
              </a: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sarrollar una plataforma web para TRIBUTEK que permita centralizar y gestionar la información, documentación y servicios asociados a sus clientes, facilitando los procesos de gestión contable, tributaria y laboral.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92529" y="3467188"/>
            <a:ext cx="10354797" cy="838200"/>
            <a:chOff x="0" y="0"/>
            <a:chExt cx="13806396" cy="111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06396" cy="1117600"/>
            </a:xfrm>
            <a:custGeom>
              <a:avLst/>
              <a:gdLst/>
              <a:ahLst/>
              <a:cxnLst/>
              <a:rect r="r" b="b" t="t" l="l"/>
              <a:pathLst>
                <a:path h="1117600" w="13806396">
                  <a:moveTo>
                    <a:pt x="0" y="0"/>
                  </a:moveTo>
                  <a:lnTo>
                    <a:pt x="13806396" y="0"/>
                  </a:lnTo>
                  <a:lnTo>
                    <a:pt x="13806396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0154" r="-57627" b="-31869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806396" cy="111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u="sng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OBJ</a:t>
              </a:r>
              <a:r>
                <a:rPr lang="en-US" sz="3900" u="sng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ETIVOS ESPECÍFICOS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2529" y="4305388"/>
            <a:ext cx="10685435" cy="5114925"/>
            <a:chOff x="0" y="0"/>
            <a:chExt cx="14247247" cy="68198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47248" cy="6819899"/>
            </a:xfrm>
            <a:custGeom>
              <a:avLst/>
              <a:gdLst/>
              <a:ahLst/>
              <a:cxnLst/>
              <a:rect r="r" b="b" t="t" l="l"/>
              <a:pathLst>
                <a:path h="6819899" w="14247248">
                  <a:moveTo>
                    <a:pt x="0" y="0"/>
                  </a:moveTo>
                  <a:lnTo>
                    <a:pt x="14247248" y="0"/>
                  </a:lnTo>
                  <a:lnTo>
                    <a:pt x="14247248" y="6819899"/>
                  </a:lnTo>
                  <a:lnTo>
                    <a:pt x="0" y="68198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23" r="55629" b="692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4247247" cy="6810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47698" indent="-323849" lvl="1">
                <a:lnSpc>
                  <a:spcPts val="3599"/>
                </a:lnSpc>
                <a:buAutoNum type="arabicPeriod" startAt="1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Diseñar una base de datos que permita almacenar y rel</a:t>
              </a: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acionar información de clientes, empresas, documentos y servicios.</a:t>
              </a:r>
            </a:p>
            <a:p>
              <a:pPr algn="l" marL="647698" indent="-323849" lvl="1">
                <a:lnSpc>
                  <a:spcPts val="3599"/>
                </a:lnSpc>
                <a:buAutoNum type="arabicPeriod" startAt="1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Desarrollar módulos que permitan a TRIBUTEK gestionar clientes, documentación y actividades asociadas a sus servicios.</a:t>
              </a:r>
            </a:p>
            <a:p>
              <a:pPr algn="l" marL="647698" indent="-323849" lvl="1">
                <a:lnSpc>
                  <a:spcPts val="3599"/>
                </a:lnSpc>
                <a:buAutoNum type="arabicPeriod" startAt="1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Implementar un portal para que los clientes puedan consultar y entregar la información y documentación requerida.</a:t>
              </a:r>
            </a:p>
            <a:p>
              <a:pPr algn="l" marL="647698" indent="-323849" lvl="1">
                <a:lnSpc>
                  <a:spcPts val="3599"/>
                </a:lnSpc>
                <a:buAutoNum type="arabicPeriod" startAt="1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Implementar mecanismos de autenticación y control de acceso según los diferentes tipos de usuario.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8181643">
            <a:off x="13131447" y="5094687"/>
            <a:ext cx="3993514" cy="6050778"/>
          </a:xfrm>
          <a:custGeom>
            <a:avLst/>
            <a:gdLst/>
            <a:ahLst/>
            <a:cxnLst/>
            <a:rect r="r" b="b" t="t" l="l"/>
            <a:pathLst>
              <a:path h="6050778" w="3993514">
                <a:moveTo>
                  <a:pt x="0" y="0"/>
                </a:moveTo>
                <a:lnTo>
                  <a:pt x="3993514" y="0"/>
                </a:lnTo>
                <a:lnTo>
                  <a:pt x="3993514" y="6050778"/>
                </a:lnTo>
                <a:lnTo>
                  <a:pt x="0" y="6050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46129" y="1440223"/>
            <a:ext cx="7857034" cy="6776766"/>
          </a:xfrm>
          <a:custGeom>
            <a:avLst/>
            <a:gdLst/>
            <a:ahLst/>
            <a:cxnLst/>
            <a:rect r="r" b="b" t="t" l="l"/>
            <a:pathLst>
              <a:path h="6776766" w="7857034">
                <a:moveTo>
                  <a:pt x="0" y="0"/>
                </a:moveTo>
                <a:lnTo>
                  <a:pt x="7857034" y="0"/>
                </a:lnTo>
                <a:lnTo>
                  <a:pt x="7857034" y="6776766"/>
                </a:lnTo>
                <a:lnTo>
                  <a:pt x="0" y="67767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229" t="0" r="-14227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72128">
            <a:off x="6696261" y="-1664495"/>
            <a:ext cx="2815523" cy="3804761"/>
          </a:xfrm>
          <a:custGeom>
            <a:avLst/>
            <a:gdLst/>
            <a:ahLst/>
            <a:cxnLst/>
            <a:rect r="r" b="b" t="t" l="l"/>
            <a:pathLst>
              <a:path h="3804761" w="2815523">
                <a:moveTo>
                  <a:pt x="0" y="0"/>
                </a:moveTo>
                <a:lnTo>
                  <a:pt x="2815523" y="0"/>
                </a:lnTo>
                <a:lnTo>
                  <a:pt x="2815523" y="3804761"/>
                </a:lnTo>
                <a:lnTo>
                  <a:pt x="0" y="3804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88312" y="520172"/>
            <a:ext cx="10511375" cy="838200"/>
            <a:chOff x="0" y="0"/>
            <a:chExt cx="14015167" cy="111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15166" cy="1117600"/>
            </a:xfrm>
            <a:custGeom>
              <a:avLst/>
              <a:gdLst/>
              <a:ahLst/>
              <a:cxnLst/>
              <a:rect r="r" b="b" t="t" l="l"/>
              <a:pathLst>
                <a:path h="1117600" w="14015166">
                  <a:moveTo>
                    <a:pt x="0" y="0"/>
                  </a:moveTo>
                  <a:lnTo>
                    <a:pt x="14015166" y="0"/>
                  </a:lnTo>
                  <a:lnTo>
                    <a:pt x="14015166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0154" r="-55279" b="-31869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015167" cy="111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METODOLOGÍA ÁGIL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122134" y="5388712"/>
            <a:ext cx="12043732" cy="4046220"/>
            <a:chOff x="0" y="0"/>
            <a:chExt cx="16058310" cy="53949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58310" cy="5394959"/>
            </a:xfrm>
            <a:custGeom>
              <a:avLst/>
              <a:gdLst/>
              <a:ahLst/>
              <a:cxnLst/>
              <a:rect r="r" b="b" t="t" l="l"/>
              <a:pathLst>
                <a:path h="5394959" w="16058310">
                  <a:moveTo>
                    <a:pt x="0" y="0"/>
                  </a:moveTo>
                  <a:lnTo>
                    <a:pt x="16058310" y="0"/>
                  </a:lnTo>
                  <a:lnTo>
                    <a:pt x="16058310" y="5394959"/>
                  </a:lnTo>
                  <a:lnTo>
                    <a:pt x="0" y="53949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729" r="60633" b="6106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6058310" cy="5414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39"/>
                </a:lnSpc>
              </a:pPr>
              <a:r>
                <a:rPr lang="en-US" sz="2999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Trabajo incremental</a:t>
              </a:r>
            </a:p>
            <a:p>
              <a:pPr algn="ctr">
                <a:lnSpc>
                  <a:spcPts val="3839"/>
                </a:lnSpc>
              </a:pPr>
              <a:r>
                <a:rPr lang="en-US" sz="2999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Desarrollo progresivo de las funcionalidades del sistema.</a:t>
              </a:r>
            </a:p>
            <a:p>
              <a:pPr algn="ctr">
                <a:lnSpc>
                  <a:spcPts val="3839"/>
                </a:lnSpc>
              </a:pPr>
            </a:p>
            <a:p>
              <a:pPr algn="ctr">
                <a:lnSpc>
                  <a:spcPts val="3839"/>
                </a:lnSpc>
              </a:pPr>
              <a:r>
                <a:rPr lang="en-US" sz="2999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Organización visual</a:t>
              </a:r>
            </a:p>
            <a:p>
              <a:pPr algn="ctr">
                <a:lnSpc>
                  <a:spcPts val="3839"/>
                </a:lnSpc>
              </a:pPr>
              <a:r>
                <a:rPr lang="en-US" sz="2999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Seguimiento del estado y responsable de cada tarea.</a:t>
              </a:r>
            </a:p>
            <a:p>
              <a:pPr algn="ctr">
                <a:lnSpc>
                  <a:spcPts val="3839"/>
                </a:lnSpc>
              </a:pPr>
            </a:p>
            <a:p>
              <a:pPr algn="ctr">
                <a:lnSpc>
                  <a:spcPts val="3839"/>
                </a:lnSpc>
              </a:pPr>
              <a:r>
                <a:rPr lang="en-US" sz="2999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Adaptabilidad</a:t>
              </a:r>
            </a:p>
            <a:p>
              <a:pPr algn="ctr">
                <a:lnSpc>
                  <a:spcPts val="3839"/>
                </a:lnSpc>
              </a:pPr>
              <a:r>
                <a:rPr lang="en-US" sz="2999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Posibilidad de repriorizar tareas según avances y retroalimentación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35056" y="1131156"/>
            <a:ext cx="4217889" cy="734932"/>
            <a:chOff x="0" y="0"/>
            <a:chExt cx="5623852" cy="9799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23851" cy="979909"/>
            </a:xfrm>
            <a:custGeom>
              <a:avLst/>
              <a:gdLst/>
              <a:ahLst/>
              <a:cxnLst/>
              <a:rect r="r" b="b" t="t" l="l"/>
              <a:pathLst>
                <a:path h="979909" w="5623851">
                  <a:moveTo>
                    <a:pt x="0" y="0"/>
                  </a:moveTo>
                  <a:lnTo>
                    <a:pt x="5623851" y="0"/>
                  </a:lnTo>
                  <a:lnTo>
                    <a:pt x="5623851" y="979909"/>
                  </a:lnTo>
                  <a:lnTo>
                    <a:pt x="0" y="9799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7950" r="-286971" b="-3775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623852" cy="979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0"/>
                </a:lnSpc>
              </a:pPr>
              <a:r>
                <a:rPr lang="en-US" sz="2500" i="true">
                  <a:solidFill>
                    <a:srgbClr val="20324A"/>
                  </a:solidFill>
                  <a:latin typeface="Lora Italics"/>
                  <a:ea typeface="Lora Italics"/>
                  <a:cs typeface="Lora Italics"/>
                  <a:sym typeface="Lora Italics"/>
                </a:rPr>
                <a:t>KANBAN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8935157">
            <a:off x="14870046" y="5444685"/>
            <a:ext cx="4504661" cy="3964102"/>
          </a:xfrm>
          <a:custGeom>
            <a:avLst/>
            <a:gdLst/>
            <a:ahLst/>
            <a:cxnLst/>
            <a:rect r="r" b="b" t="t" l="l"/>
            <a:pathLst>
              <a:path h="3964102" w="4504661">
                <a:moveTo>
                  <a:pt x="0" y="0"/>
                </a:moveTo>
                <a:lnTo>
                  <a:pt x="4504661" y="0"/>
                </a:lnTo>
                <a:lnTo>
                  <a:pt x="4504661" y="3964102"/>
                </a:lnTo>
                <a:lnTo>
                  <a:pt x="0" y="3964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844083">
            <a:off x="3931650" y="2081475"/>
            <a:ext cx="1157106" cy="1493963"/>
          </a:xfrm>
          <a:custGeom>
            <a:avLst/>
            <a:gdLst/>
            <a:ahLst/>
            <a:cxnLst/>
            <a:rect r="r" b="b" t="t" l="l"/>
            <a:pathLst>
              <a:path h="1493963" w="1157106">
                <a:moveTo>
                  <a:pt x="0" y="0"/>
                </a:moveTo>
                <a:lnTo>
                  <a:pt x="1157105" y="0"/>
                </a:lnTo>
                <a:lnTo>
                  <a:pt x="1157105" y="1493963"/>
                </a:lnTo>
                <a:lnTo>
                  <a:pt x="0" y="14939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91113" y="2110720"/>
            <a:ext cx="1339181" cy="1435473"/>
          </a:xfrm>
          <a:custGeom>
            <a:avLst/>
            <a:gdLst/>
            <a:ahLst/>
            <a:cxnLst/>
            <a:rect r="r" b="b" t="t" l="l"/>
            <a:pathLst>
              <a:path h="1435473" w="1339181">
                <a:moveTo>
                  <a:pt x="0" y="0"/>
                </a:moveTo>
                <a:lnTo>
                  <a:pt x="1339180" y="0"/>
                </a:lnTo>
                <a:lnTo>
                  <a:pt x="1339180" y="1435473"/>
                </a:lnTo>
                <a:lnTo>
                  <a:pt x="0" y="14354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95743" y="4012101"/>
            <a:ext cx="2650880" cy="698543"/>
          </a:xfrm>
          <a:custGeom>
            <a:avLst/>
            <a:gdLst/>
            <a:ahLst/>
            <a:cxnLst/>
            <a:rect r="r" b="b" t="t" l="l"/>
            <a:pathLst>
              <a:path h="698543" w="2650880">
                <a:moveTo>
                  <a:pt x="0" y="0"/>
                </a:moveTo>
                <a:lnTo>
                  <a:pt x="2650880" y="0"/>
                </a:lnTo>
                <a:lnTo>
                  <a:pt x="2650880" y="698542"/>
                </a:lnTo>
                <a:lnTo>
                  <a:pt x="0" y="6985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096903">
            <a:off x="10191207" y="2119832"/>
            <a:ext cx="1031149" cy="1755186"/>
          </a:xfrm>
          <a:custGeom>
            <a:avLst/>
            <a:gdLst/>
            <a:ahLst/>
            <a:cxnLst/>
            <a:rect r="r" b="b" t="t" l="l"/>
            <a:pathLst>
              <a:path h="1755186" w="1031149">
                <a:moveTo>
                  <a:pt x="0" y="0"/>
                </a:moveTo>
                <a:lnTo>
                  <a:pt x="1031149" y="0"/>
                </a:lnTo>
                <a:lnTo>
                  <a:pt x="1031149" y="1755186"/>
                </a:lnTo>
                <a:lnTo>
                  <a:pt x="0" y="17551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85066" y="2289439"/>
            <a:ext cx="1264383" cy="1207253"/>
          </a:xfrm>
          <a:custGeom>
            <a:avLst/>
            <a:gdLst/>
            <a:ahLst/>
            <a:cxnLst/>
            <a:rect r="r" b="b" t="t" l="l"/>
            <a:pathLst>
              <a:path h="1207253" w="1264383">
                <a:moveTo>
                  <a:pt x="0" y="0"/>
                </a:moveTo>
                <a:lnTo>
                  <a:pt x="1264382" y="0"/>
                </a:lnTo>
                <a:lnTo>
                  <a:pt x="1264382" y="1207253"/>
                </a:lnTo>
                <a:lnTo>
                  <a:pt x="0" y="12072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974246" y="3978924"/>
            <a:ext cx="2650880" cy="698543"/>
          </a:xfrm>
          <a:custGeom>
            <a:avLst/>
            <a:gdLst/>
            <a:ahLst/>
            <a:cxnLst/>
            <a:rect r="r" b="b" t="t" l="l"/>
            <a:pathLst>
              <a:path h="698543" w="2650880">
                <a:moveTo>
                  <a:pt x="0" y="0"/>
                </a:moveTo>
                <a:lnTo>
                  <a:pt x="2650879" y="0"/>
                </a:lnTo>
                <a:lnTo>
                  <a:pt x="2650879" y="698543"/>
                </a:lnTo>
                <a:lnTo>
                  <a:pt x="0" y="698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217716" y="3759937"/>
            <a:ext cx="2099505" cy="1085850"/>
            <a:chOff x="0" y="0"/>
            <a:chExt cx="2799340" cy="14477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99340" cy="1447799"/>
            </a:xfrm>
            <a:custGeom>
              <a:avLst/>
              <a:gdLst/>
              <a:ahLst/>
              <a:cxnLst/>
              <a:rect r="r" b="b" t="t" l="l"/>
              <a:pathLst>
                <a:path h="1447799" w="2799340">
                  <a:moveTo>
                    <a:pt x="0" y="0"/>
                  </a:moveTo>
                  <a:lnTo>
                    <a:pt x="2799340" y="0"/>
                  </a:lnTo>
                  <a:lnTo>
                    <a:pt x="2799340" y="1447799"/>
                  </a:lnTo>
                  <a:lnTo>
                    <a:pt x="0" y="14477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77" r="-125822" b="-4507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799340" cy="1438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QUE HACER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235263" y="4012101"/>
            <a:ext cx="2650880" cy="698543"/>
          </a:xfrm>
          <a:custGeom>
            <a:avLst/>
            <a:gdLst/>
            <a:ahLst/>
            <a:cxnLst/>
            <a:rect r="r" b="b" t="t" l="l"/>
            <a:pathLst>
              <a:path h="698543" w="2650880">
                <a:moveTo>
                  <a:pt x="0" y="0"/>
                </a:moveTo>
                <a:lnTo>
                  <a:pt x="2650880" y="0"/>
                </a:lnTo>
                <a:lnTo>
                  <a:pt x="2650880" y="698542"/>
                </a:lnTo>
                <a:lnTo>
                  <a:pt x="0" y="6985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510950" y="3759937"/>
            <a:ext cx="2099505" cy="1085850"/>
            <a:chOff x="0" y="0"/>
            <a:chExt cx="2799340" cy="14477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99340" cy="1447799"/>
            </a:xfrm>
            <a:custGeom>
              <a:avLst/>
              <a:gdLst/>
              <a:ahLst/>
              <a:cxnLst/>
              <a:rect r="r" b="b" t="t" l="l"/>
              <a:pathLst>
                <a:path h="1447799" w="2799340">
                  <a:moveTo>
                    <a:pt x="0" y="0"/>
                  </a:moveTo>
                  <a:lnTo>
                    <a:pt x="2799340" y="0"/>
                  </a:lnTo>
                  <a:lnTo>
                    <a:pt x="2799340" y="1447799"/>
                  </a:lnTo>
                  <a:lnTo>
                    <a:pt x="0" y="14477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77" r="-125822" b="-4507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799340" cy="1438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EN PROCESO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01081" y="3759937"/>
            <a:ext cx="2099505" cy="1085850"/>
            <a:chOff x="0" y="0"/>
            <a:chExt cx="2799340" cy="14477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99340" cy="1447799"/>
            </a:xfrm>
            <a:custGeom>
              <a:avLst/>
              <a:gdLst/>
              <a:ahLst/>
              <a:cxnLst/>
              <a:rect r="r" b="b" t="t" l="l"/>
              <a:pathLst>
                <a:path h="1447799" w="2799340">
                  <a:moveTo>
                    <a:pt x="0" y="0"/>
                  </a:moveTo>
                  <a:lnTo>
                    <a:pt x="2799340" y="0"/>
                  </a:lnTo>
                  <a:lnTo>
                    <a:pt x="2799340" y="1447799"/>
                  </a:lnTo>
                  <a:lnTo>
                    <a:pt x="0" y="14477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77" r="-125822" b="-4507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2799340" cy="1438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EN REVISIÓN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2591817" y="4012101"/>
            <a:ext cx="2650880" cy="698543"/>
          </a:xfrm>
          <a:custGeom>
            <a:avLst/>
            <a:gdLst/>
            <a:ahLst/>
            <a:cxnLst/>
            <a:rect r="r" b="b" t="t" l="l"/>
            <a:pathLst>
              <a:path h="698543" w="2650880">
                <a:moveTo>
                  <a:pt x="0" y="0"/>
                </a:moveTo>
                <a:lnTo>
                  <a:pt x="2650880" y="0"/>
                </a:lnTo>
                <a:lnTo>
                  <a:pt x="2650880" y="698542"/>
                </a:lnTo>
                <a:lnTo>
                  <a:pt x="0" y="6985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2520759" y="3810603"/>
            <a:ext cx="2792995" cy="1035184"/>
            <a:chOff x="0" y="0"/>
            <a:chExt cx="3723993" cy="13802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23994" cy="1380245"/>
            </a:xfrm>
            <a:custGeom>
              <a:avLst/>
              <a:gdLst/>
              <a:ahLst/>
              <a:cxnLst/>
              <a:rect r="r" b="b" t="t" l="l"/>
              <a:pathLst>
                <a:path h="1380245" w="3723994">
                  <a:moveTo>
                    <a:pt x="0" y="0"/>
                  </a:moveTo>
                  <a:lnTo>
                    <a:pt x="3723994" y="0"/>
                  </a:lnTo>
                  <a:lnTo>
                    <a:pt x="3723994" y="1380245"/>
                  </a:lnTo>
                  <a:lnTo>
                    <a:pt x="0" y="13802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305" r="-69751" b="-5217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3723993" cy="137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FINALIZACIÓN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-1332301" y="6476136"/>
            <a:ext cx="4521758" cy="4114800"/>
          </a:xfrm>
          <a:custGeom>
            <a:avLst/>
            <a:gdLst/>
            <a:ahLst/>
            <a:cxnLst/>
            <a:rect r="r" b="b" t="t" l="l"/>
            <a:pathLst>
              <a:path h="4114800" w="4521758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658078">
            <a:off x="-2654728" y="4834875"/>
            <a:ext cx="4572583" cy="6179167"/>
          </a:xfrm>
          <a:custGeom>
            <a:avLst/>
            <a:gdLst/>
            <a:ahLst/>
            <a:cxnLst/>
            <a:rect r="r" b="b" t="t" l="l"/>
            <a:pathLst>
              <a:path h="6179167" w="4572583">
                <a:moveTo>
                  <a:pt x="0" y="0"/>
                </a:moveTo>
                <a:lnTo>
                  <a:pt x="4572584" y="0"/>
                </a:lnTo>
                <a:lnTo>
                  <a:pt x="4572584" y="6179166"/>
                </a:lnTo>
                <a:lnTo>
                  <a:pt x="0" y="6179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3559" y="357502"/>
            <a:ext cx="7865430" cy="838200"/>
            <a:chOff x="0" y="0"/>
            <a:chExt cx="10487240" cy="111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8724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0487240">
                  <a:moveTo>
                    <a:pt x="0" y="0"/>
                  </a:moveTo>
                  <a:lnTo>
                    <a:pt x="10487240" y="0"/>
                  </a:lnTo>
                  <a:lnTo>
                    <a:pt x="10487240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0154" r="-107516" b="-31869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0487240" cy="111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u="sng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PLANIFICACIÓN DEL PROYECTO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05271" y="2188421"/>
            <a:ext cx="7442005" cy="3626719"/>
            <a:chOff x="0" y="0"/>
            <a:chExt cx="9922674" cy="48356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22674" cy="4835625"/>
            </a:xfrm>
            <a:custGeom>
              <a:avLst/>
              <a:gdLst/>
              <a:ahLst/>
              <a:cxnLst/>
              <a:rect r="r" b="b" t="t" l="l"/>
              <a:pathLst>
                <a:path h="4835625" w="9922674">
                  <a:moveTo>
                    <a:pt x="0" y="0"/>
                  </a:moveTo>
                  <a:lnTo>
                    <a:pt x="9922674" y="0"/>
                  </a:lnTo>
                  <a:lnTo>
                    <a:pt x="9922674" y="4835625"/>
                  </a:lnTo>
                  <a:lnTo>
                    <a:pt x="0" y="48356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08" r="36291" b="5656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9922674" cy="482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47698" indent="-323849" lvl="1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Actividades y tareas del proyecto.</a:t>
              </a:r>
            </a:p>
            <a:p>
              <a:pPr algn="l" marL="647698" indent="-323849" lvl="1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Responsable de cada actividad.</a:t>
              </a:r>
            </a:p>
            <a:p>
              <a:pPr algn="l" marL="647698" indent="-323849" lvl="1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Aporte de cada integrante.</a:t>
              </a:r>
            </a:p>
            <a:p>
              <a:pPr algn="l" marL="647698" indent="-323849" lvl="1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Fechas y duración.</a:t>
              </a:r>
            </a:p>
            <a:p>
              <a:pPr algn="l" marL="647698" indent="-323849" lvl="1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Resultado o evidencia esperada.</a:t>
              </a:r>
            </a:p>
            <a:p>
              <a:pPr algn="l" marL="647698" indent="-323849" lvl="1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Estado y porcentaje de avance</a:t>
              </a:r>
              <a:r>
                <a:rPr lang="en-US" sz="29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8309930">
            <a:off x="14378356" y="-3563057"/>
            <a:ext cx="3993514" cy="6050778"/>
          </a:xfrm>
          <a:custGeom>
            <a:avLst/>
            <a:gdLst/>
            <a:ahLst/>
            <a:cxnLst/>
            <a:rect r="r" b="b" t="t" l="l"/>
            <a:pathLst>
              <a:path h="6050778" w="3993514">
                <a:moveTo>
                  <a:pt x="0" y="0"/>
                </a:moveTo>
                <a:lnTo>
                  <a:pt x="3993514" y="0"/>
                </a:lnTo>
                <a:lnTo>
                  <a:pt x="3993514" y="6050778"/>
                </a:lnTo>
                <a:lnTo>
                  <a:pt x="0" y="6050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98922" y="5547417"/>
            <a:ext cx="9854705" cy="1085850"/>
            <a:chOff x="0" y="0"/>
            <a:chExt cx="13139607" cy="14477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39607" cy="1447799"/>
            </a:xfrm>
            <a:custGeom>
              <a:avLst/>
              <a:gdLst/>
              <a:ahLst/>
              <a:cxnLst/>
              <a:rect r="r" b="b" t="t" l="l"/>
              <a:pathLst>
                <a:path h="1447799" w="13139607">
                  <a:moveTo>
                    <a:pt x="0" y="0"/>
                  </a:moveTo>
                  <a:lnTo>
                    <a:pt x="13139607" y="0"/>
                  </a:lnTo>
                  <a:lnTo>
                    <a:pt x="13139607" y="1447799"/>
                  </a:lnTo>
                  <a:lnTo>
                    <a:pt x="0" y="14477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77" r="51889" b="-450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3139607" cy="1438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u="sng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La planificación será actualizada progresivament</a:t>
              </a:r>
              <a:r>
                <a:rPr lang="en-US" sz="2200" u="sng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 según el avance y las necesidades identificadas durante el desarrollo del proyecto</a:t>
              </a:r>
              <a:r>
                <a:rPr lang="en-US" sz="2200" u="sng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054158" y="641649"/>
            <a:ext cx="7768866" cy="6720264"/>
          </a:xfrm>
          <a:custGeom>
            <a:avLst/>
            <a:gdLst/>
            <a:ahLst/>
            <a:cxnLst/>
            <a:rect r="r" b="b" t="t" l="l"/>
            <a:pathLst>
              <a:path h="6720264" w="7768866">
                <a:moveTo>
                  <a:pt x="0" y="0"/>
                </a:moveTo>
                <a:lnTo>
                  <a:pt x="7768866" y="0"/>
                </a:lnTo>
                <a:lnTo>
                  <a:pt x="7768866" y="6720264"/>
                </a:lnTo>
                <a:lnTo>
                  <a:pt x="0" y="67202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441" t="0" r="-14393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816388" y="1195702"/>
            <a:ext cx="7219772" cy="992720"/>
            <a:chOff x="0" y="0"/>
            <a:chExt cx="9626363" cy="13236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26363" cy="1323626"/>
            </a:xfrm>
            <a:custGeom>
              <a:avLst/>
              <a:gdLst/>
              <a:ahLst/>
              <a:cxnLst/>
              <a:rect r="r" b="b" t="t" l="l"/>
              <a:pathLst>
                <a:path h="1323626" w="9626363">
                  <a:moveTo>
                    <a:pt x="0" y="0"/>
                  </a:moveTo>
                  <a:lnTo>
                    <a:pt x="9626363" y="0"/>
                  </a:lnTo>
                  <a:lnTo>
                    <a:pt x="9626363" y="1323626"/>
                  </a:lnTo>
                  <a:lnTo>
                    <a:pt x="0" y="13236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208" r="-126074" b="-25352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626363" cy="13236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0"/>
                </a:lnSpc>
              </a:pPr>
              <a:r>
                <a:rPr lang="en-US" sz="2500" i="true">
                  <a:solidFill>
                    <a:srgbClr val="BD8F80"/>
                  </a:solidFill>
                  <a:latin typeface="Lora Italics"/>
                  <a:ea typeface="Lora Italics"/>
                  <a:cs typeface="Lora Italics"/>
                  <a:sym typeface="Lora Italics"/>
                </a:rPr>
                <a:t>ORGANIZACIÓN Y SEGUIMIENTO DEL PROYECTO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39519" y="7749833"/>
            <a:ext cx="9283505" cy="2120901"/>
            <a:chOff x="0" y="0"/>
            <a:chExt cx="12378007" cy="28278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78007" cy="2827868"/>
            </a:xfrm>
            <a:custGeom>
              <a:avLst/>
              <a:gdLst/>
              <a:ahLst/>
              <a:cxnLst/>
              <a:rect r="r" b="b" t="t" l="l"/>
              <a:pathLst>
                <a:path h="2827868" w="12378007">
                  <a:moveTo>
                    <a:pt x="0" y="0"/>
                  </a:moveTo>
                  <a:lnTo>
                    <a:pt x="12378007" y="0"/>
                  </a:lnTo>
                  <a:lnTo>
                    <a:pt x="12378007" y="2827868"/>
                  </a:lnTo>
                  <a:lnTo>
                    <a:pt x="0" y="28278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839" r="48929" b="2572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2378007" cy="2818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0214" indent="-205107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Visual Studio Code: desarrollo y edición del código.</a:t>
              </a:r>
            </a:p>
            <a:p>
              <a:pPr algn="l" marL="410214" indent="-205107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GitHub y Git: repositorio, control de v</a:t>
              </a: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ersiones y evidencias del trabajo.</a:t>
              </a:r>
            </a:p>
            <a:p>
              <a:pPr algn="l" marL="410214" indent="-205107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GitHub Pr</a:t>
              </a: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ojects: tablero Kanban para organizar y dar seguimiento a las tareas.</a:t>
              </a:r>
            </a:p>
            <a:p>
              <a:pPr algn="l" marL="410214" indent="-205107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Canva: </a:t>
              </a: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elaboración de mockups y material de presentación.</a:t>
              </a:r>
            </a:p>
            <a:p>
              <a:pPr algn="l" marL="410214" indent="-205107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Po</a:t>
              </a: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stgreSQL / pgAdmin: diseño y administración de la base de datos.</a:t>
              </a:r>
            </a:p>
            <a:p>
              <a:pPr algn="l" marL="410214" indent="-205107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Re</a:t>
              </a: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act / Next.js: desarrollo de la interfaz web.</a:t>
              </a:r>
            </a:p>
            <a:p>
              <a:pPr algn="l" marL="410214" indent="-205107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Node.js / NestJS: desarrollo de la lógica y servicios del sistema.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8442817"/>
            <a:ext cx="7865430" cy="734932"/>
            <a:chOff x="0" y="0"/>
            <a:chExt cx="10487240" cy="9799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7240" cy="979909"/>
            </a:xfrm>
            <a:custGeom>
              <a:avLst/>
              <a:gdLst/>
              <a:ahLst/>
              <a:cxnLst/>
              <a:rect r="r" b="b" t="t" l="l"/>
              <a:pathLst>
                <a:path h="979909" w="10487240">
                  <a:moveTo>
                    <a:pt x="0" y="0"/>
                  </a:moveTo>
                  <a:lnTo>
                    <a:pt x="10487240" y="0"/>
                  </a:lnTo>
                  <a:lnTo>
                    <a:pt x="10487240" y="979909"/>
                  </a:lnTo>
                  <a:lnTo>
                    <a:pt x="0" y="9799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7950" r="-107516" b="-37753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0487240" cy="970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80"/>
                </a:lnSpc>
              </a:pPr>
              <a:r>
                <a:rPr lang="en-US" sz="3400" u="sng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HERRAMIENTAS UTILIZADAS: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2322196">
            <a:off x="3564670" y="5144386"/>
            <a:ext cx="5636712" cy="4114800"/>
          </a:xfrm>
          <a:custGeom>
            <a:avLst/>
            <a:gdLst/>
            <a:ahLst/>
            <a:cxnLst/>
            <a:rect r="r" b="b" t="t" l="l"/>
            <a:pathLst>
              <a:path h="4114800" w="5636712">
                <a:moveTo>
                  <a:pt x="0" y="0"/>
                </a:moveTo>
                <a:lnTo>
                  <a:pt x="5636712" y="0"/>
                </a:lnTo>
                <a:lnTo>
                  <a:pt x="56367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09600"/>
            <a:ext cx="10511375" cy="838200"/>
            <a:chOff x="0" y="0"/>
            <a:chExt cx="14015167" cy="111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15166" cy="1117600"/>
            </a:xfrm>
            <a:custGeom>
              <a:avLst/>
              <a:gdLst/>
              <a:ahLst/>
              <a:cxnLst/>
              <a:rect r="r" b="b" t="t" l="l"/>
              <a:pathLst>
                <a:path h="1117600" w="14015166">
                  <a:moveTo>
                    <a:pt x="0" y="0"/>
                  </a:moveTo>
                  <a:lnTo>
                    <a:pt x="14015166" y="0"/>
                  </a:lnTo>
                  <a:lnTo>
                    <a:pt x="14015166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154" r="-55279" b="-31869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015167" cy="111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>
                  <a:solidFill>
                    <a:srgbClr val="20324A"/>
                  </a:solidFill>
                  <a:latin typeface="Lora"/>
                  <a:ea typeface="Lora"/>
                  <a:cs typeface="Lora"/>
                  <a:sym typeface="Lora"/>
                </a:rPr>
                <a:t>EVIDENCIAS Y JUSTIFICACIÓN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935157">
            <a:off x="15236129" y="-1620724"/>
            <a:ext cx="4504661" cy="3964102"/>
          </a:xfrm>
          <a:custGeom>
            <a:avLst/>
            <a:gdLst/>
            <a:ahLst/>
            <a:cxnLst/>
            <a:rect r="r" b="b" t="t" l="l"/>
            <a:pathLst>
              <a:path h="3964102" w="4504661">
                <a:moveTo>
                  <a:pt x="0" y="0"/>
                </a:moveTo>
                <a:lnTo>
                  <a:pt x="4504661" y="0"/>
                </a:lnTo>
                <a:lnTo>
                  <a:pt x="4504661" y="3964102"/>
                </a:lnTo>
                <a:lnTo>
                  <a:pt x="0" y="3964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02592">
            <a:off x="14998421" y="7200900"/>
            <a:ext cx="4521758" cy="4114800"/>
          </a:xfrm>
          <a:custGeom>
            <a:avLst/>
            <a:gdLst/>
            <a:ahLst/>
            <a:cxnLst/>
            <a:rect r="r" b="b" t="t" l="l"/>
            <a:pathLst>
              <a:path h="4114800" w="4521758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40535" y="2255131"/>
            <a:ext cx="6747925" cy="6034515"/>
          </a:xfrm>
          <a:custGeom>
            <a:avLst/>
            <a:gdLst/>
            <a:ahLst/>
            <a:cxnLst/>
            <a:rect r="r" b="b" t="t" l="l"/>
            <a:pathLst>
              <a:path h="6034515" w="6747925">
                <a:moveTo>
                  <a:pt x="0" y="0"/>
                </a:moveTo>
                <a:lnTo>
                  <a:pt x="6747925" y="0"/>
                </a:lnTo>
                <a:lnTo>
                  <a:pt x="6747925" y="6034515"/>
                </a:lnTo>
                <a:lnTo>
                  <a:pt x="0" y="60345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101" t="0" r="-17124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781777"/>
            <a:ext cx="10342311" cy="7476523"/>
            <a:chOff x="0" y="0"/>
            <a:chExt cx="13789748" cy="9968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89749" cy="9968698"/>
            </a:xfrm>
            <a:custGeom>
              <a:avLst/>
              <a:gdLst/>
              <a:ahLst/>
              <a:cxnLst/>
              <a:rect r="r" b="b" t="t" l="l"/>
              <a:pathLst>
                <a:path h="9968698" w="13789749">
                  <a:moveTo>
                    <a:pt x="0" y="0"/>
                  </a:moveTo>
                  <a:lnTo>
                    <a:pt x="13789749" y="0"/>
                  </a:lnTo>
                  <a:lnTo>
                    <a:pt x="13789749" y="9968698"/>
                  </a:lnTo>
                  <a:lnTo>
                    <a:pt x="0" y="99686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2" r="54157" b="789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3789748" cy="9959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0"/>
                </a:lnSpc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Levantamiento de información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Evidencia: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Entrevista y reunión con TRIBUTEK.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Justificación: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Permitió identificar la problemática actual, los servicios gestionados y las necesidades reales de las administradoras.</a:t>
              </a:r>
            </a:p>
            <a:p>
              <a:pPr algn="l">
                <a:lnSpc>
                  <a:spcPts val="2880"/>
                </a:lnSpc>
              </a:pPr>
            </a:p>
            <a:p>
              <a:pPr algn="ctr">
                <a:lnSpc>
                  <a:spcPts val="2880"/>
                </a:lnSpc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Mockups tentativos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Evidencia: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Diseño preliminar de las principales vistas del sistema.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Justificación: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Permite visualizar la solución propu</a:t>
              </a:r>
              <a:r>
                <a:rPr lang="en-US" sz="24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sta y v</a:t>
              </a:r>
              <a:r>
                <a:rPr lang="en-US" sz="24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alidar 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la</a:t>
              </a:r>
              <a:r>
                <a:rPr lang="en-US" sz="24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o</a:t>
              </a:r>
              <a:r>
                <a:rPr lang="en-US" sz="24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r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gan</a:t>
              </a:r>
              <a:r>
                <a:rPr lang="en-US" sz="24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i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zac</a:t>
              </a:r>
              <a:r>
                <a:rPr lang="en-US" sz="2400" u="none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i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ón de módulos, roles y navegación.</a:t>
              </a:r>
            </a:p>
            <a:p>
              <a:pPr algn="ctr">
                <a:lnSpc>
                  <a:spcPts val="2880"/>
                </a:lnSpc>
              </a:pPr>
            </a:p>
            <a:p>
              <a:pPr algn="ctr">
                <a:lnSpc>
                  <a:spcPts val="2880"/>
                </a:lnSpc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Requisitos preliminares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Evidencia: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Definición inicial de requisitos funcionales y no funcionales.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Justificación: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Permite transformar las necesidades detectadas en funciones concretas que deberá cumplir el sistema.</a:t>
              </a:r>
            </a:p>
            <a:p>
              <a:pPr algn="l">
                <a:lnSpc>
                  <a:spcPts val="2880"/>
                </a:lnSpc>
              </a:pPr>
            </a:p>
            <a:p>
              <a:pPr algn="ctr">
                <a:lnSpc>
                  <a:spcPts val="2880"/>
                </a:lnSpc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Modelo preliminar de datos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Evidencia: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Esquema inicial de la base de datos.</a:t>
              </a:r>
            </a:p>
            <a:p>
              <a:pPr algn="l" marL="518162" indent="-259081" lvl="1">
                <a:lnSpc>
                  <a:spcPts val="2880"/>
                </a:lnSpc>
                <a:buFont typeface="Arial"/>
                <a:buChar char="•"/>
              </a:pPr>
              <a:r>
                <a:rPr lang="en-US" sz="2400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Justificación:</a:t>
              </a:r>
              <a:r>
                <a:rPr lang="en-US" sz="2400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 Permite representar cómo se organizará y relacionará la información de clientes, servicios, documentos y procesos.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658078">
            <a:off x="-2924603" y="-1880250"/>
            <a:ext cx="4572583" cy="6179167"/>
          </a:xfrm>
          <a:custGeom>
            <a:avLst/>
            <a:gdLst/>
            <a:ahLst/>
            <a:cxnLst/>
            <a:rect r="r" b="b" t="t" l="l"/>
            <a:pathLst>
              <a:path h="6179167" w="4572583">
                <a:moveTo>
                  <a:pt x="0" y="0"/>
                </a:moveTo>
                <a:lnTo>
                  <a:pt x="4572584" y="0"/>
                </a:lnTo>
                <a:lnTo>
                  <a:pt x="4572584" y="6179166"/>
                </a:lnTo>
                <a:lnTo>
                  <a:pt x="0" y="6179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3622" y="2189698"/>
            <a:ext cx="7865430" cy="854075"/>
            <a:chOff x="0" y="0"/>
            <a:chExt cx="10487240" cy="11387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87240" cy="1138767"/>
            </a:xfrm>
            <a:custGeom>
              <a:avLst/>
              <a:gdLst/>
              <a:ahLst/>
              <a:cxnLst/>
              <a:rect r="r" b="b" t="t" l="l"/>
              <a:pathLst>
                <a:path h="1138767" w="10487240">
                  <a:moveTo>
                    <a:pt x="0" y="0"/>
                  </a:moveTo>
                  <a:lnTo>
                    <a:pt x="10487240" y="0"/>
                  </a:lnTo>
                  <a:lnTo>
                    <a:pt x="10487240" y="1138767"/>
                  </a:lnTo>
                  <a:lnTo>
                    <a:pt x="0" y="11387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3831" r="-107516" b="-31091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0487240" cy="11387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u="sng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PROXIMOS PASOS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51147" y="3593130"/>
            <a:ext cx="8410380" cy="3603624"/>
            <a:chOff x="0" y="0"/>
            <a:chExt cx="11213840" cy="4804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3840" cy="4804832"/>
            </a:xfrm>
            <a:custGeom>
              <a:avLst/>
              <a:gdLst/>
              <a:ahLst/>
              <a:cxnLst/>
              <a:rect r="r" b="b" t="t" l="l"/>
              <a:pathLst>
                <a:path h="4804832" w="11213840">
                  <a:moveTo>
                    <a:pt x="0" y="0"/>
                  </a:moveTo>
                  <a:lnTo>
                    <a:pt x="11213840" y="0"/>
                  </a:lnTo>
                  <a:lnTo>
                    <a:pt x="11213840" y="4804832"/>
                  </a:lnTo>
                  <a:lnTo>
                    <a:pt x="0" y="48048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56" r="43627" b="5628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213840" cy="4804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90877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Validar requisitos con TRIBUTEK.</a:t>
              </a:r>
            </a:p>
            <a:p>
              <a:pPr algn="l" marL="690877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Ajustar el modelo d</a:t>
              </a:r>
              <a:r>
                <a:rPr lang="en-US" sz="31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e base de datos.</a:t>
              </a:r>
            </a:p>
            <a:p>
              <a:pPr algn="l" marL="690877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C</a:t>
              </a:r>
              <a:r>
                <a:rPr lang="en-US" sz="31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ontinuar refinando los mockups.</a:t>
              </a:r>
            </a:p>
            <a:p>
              <a:pPr algn="l" marL="690877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Ini</a:t>
              </a:r>
              <a:r>
                <a:rPr lang="en-US" sz="31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ciar el desarrollo de los módulos.</a:t>
              </a:r>
            </a:p>
            <a:p>
              <a:pPr algn="l" marL="690877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Realizar pruebas y validaciones progresivas usando Kanban para el seguimiento</a:t>
              </a:r>
              <a:r>
                <a:rPr lang="en-US" sz="3199">
                  <a:solidFill>
                    <a:srgbClr val="9B7366"/>
                  </a:solidFill>
                  <a:latin typeface="Lora"/>
                  <a:ea typeface="Lora"/>
                  <a:cs typeface="Lora"/>
                  <a:sym typeface="Lora"/>
                </a:rPr>
                <a:t>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6306524">
            <a:off x="806201" y="4545303"/>
            <a:ext cx="3993514" cy="6050778"/>
          </a:xfrm>
          <a:custGeom>
            <a:avLst/>
            <a:gdLst/>
            <a:ahLst/>
            <a:cxnLst/>
            <a:rect r="r" b="b" t="t" l="l"/>
            <a:pathLst>
              <a:path h="6050778" w="3993514">
                <a:moveTo>
                  <a:pt x="0" y="0"/>
                </a:moveTo>
                <a:lnTo>
                  <a:pt x="3993513" y="0"/>
                </a:lnTo>
                <a:lnTo>
                  <a:pt x="3993513" y="6050778"/>
                </a:lnTo>
                <a:lnTo>
                  <a:pt x="0" y="6050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32212" y="-2327275"/>
            <a:ext cx="5920576" cy="4114800"/>
          </a:xfrm>
          <a:custGeom>
            <a:avLst/>
            <a:gdLst/>
            <a:ahLst/>
            <a:cxnLst/>
            <a:rect r="r" b="b" t="t" l="l"/>
            <a:pathLst>
              <a:path h="4114800" w="5920576">
                <a:moveTo>
                  <a:pt x="0" y="0"/>
                </a:moveTo>
                <a:lnTo>
                  <a:pt x="5920576" y="0"/>
                </a:lnTo>
                <a:lnTo>
                  <a:pt x="59205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8658078">
            <a:off x="14973008" y="7352650"/>
            <a:ext cx="4572583" cy="6179167"/>
          </a:xfrm>
          <a:custGeom>
            <a:avLst/>
            <a:gdLst/>
            <a:ahLst/>
            <a:cxnLst/>
            <a:rect r="r" b="b" t="t" l="l"/>
            <a:pathLst>
              <a:path h="6179167" w="4572583">
                <a:moveTo>
                  <a:pt x="0" y="0"/>
                </a:moveTo>
                <a:lnTo>
                  <a:pt x="4572584" y="0"/>
                </a:lnTo>
                <a:lnTo>
                  <a:pt x="4572584" y="6179166"/>
                </a:lnTo>
                <a:lnTo>
                  <a:pt x="0" y="6179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2616736"/>
            <a:ext cx="8753379" cy="5831939"/>
          </a:xfrm>
          <a:custGeom>
            <a:avLst/>
            <a:gdLst/>
            <a:ahLst/>
            <a:cxnLst/>
            <a:rect r="r" b="b" t="t" l="l"/>
            <a:pathLst>
              <a:path h="5831939" w="8753379">
                <a:moveTo>
                  <a:pt x="0" y="0"/>
                </a:moveTo>
                <a:lnTo>
                  <a:pt x="8753379" y="0"/>
                </a:lnTo>
                <a:lnTo>
                  <a:pt x="8753379" y="5831939"/>
                </a:lnTo>
                <a:lnTo>
                  <a:pt x="0" y="58319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736" y="0"/>
            <a:ext cx="4139431" cy="2309251"/>
          </a:xfrm>
          <a:custGeom>
            <a:avLst/>
            <a:gdLst/>
            <a:ahLst/>
            <a:cxnLst/>
            <a:rect r="r" b="b" t="t" l="l"/>
            <a:pathLst>
              <a:path h="2309251" w="4139431">
                <a:moveTo>
                  <a:pt x="0" y="0"/>
                </a:moveTo>
                <a:lnTo>
                  <a:pt x="4139432" y="0"/>
                </a:lnTo>
                <a:lnTo>
                  <a:pt x="4139432" y="2309251"/>
                </a:lnTo>
                <a:lnTo>
                  <a:pt x="0" y="2309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4" t="-34697" r="0" b="-4624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58924" y="1314450"/>
            <a:ext cx="5452430" cy="1743061"/>
            <a:chOff x="0" y="0"/>
            <a:chExt cx="7269906" cy="23240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69907" cy="2324081"/>
            </a:xfrm>
            <a:custGeom>
              <a:avLst/>
              <a:gdLst/>
              <a:ahLst/>
              <a:cxnLst/>
              <a:rect r="r" b="b" t="t" l="l"/>
              <a:pathLst>
                <a:path h="2324081" w="7269907">
                  <a:moveTo>
                    <a:pt x="0" y="0"/>
                  </a:moveTo>
                  <a:lnTo>
                    <a:pt x="7269907" y="0"/>
                  </a:lnTo>
                  <a:lnTo>
                    <a:pt x="7269907" y="2324081"/>
                  </a:lnTo>
                  <a:lnTo>
                    <a:pt x="0" y="23240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72" r="-199353" b="-10134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7269906" cy="23240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9719"/>
                </a:lnSpc>
              </a:pPr>
              <a:r>
                <a:rPr lang="en-US" sz="8099" u="sng">
                  <a:solidFill>
                    <a:srgbClr val="173359"/>
                  </a:solidFill>
                  <a:latin typeface="Lora"/>
                  <a:ea typeface="Lora"/>
                  <a:cs typeface="Lora"/>
                  <a:sym typeface="Lora"/>
                </a:rPr>
                <a:t>¡ GRACIAS !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08483" y="3193067"/>
            <a:ext cx="8753311" cy="5831893"/>
          </a:xfrm>
          <a:custGeom>
            <a:avLst/>
            <a:gdLst/>
            <a:ahLst/>
            <a:cxnLst/>
            <a:rect r="r" b="b" t="t" l="l"/>
            <a:pathLst>
              <a:path h="5831893" w="8753311">
                <a:moveTo>
                  <a:pt x="0" y="0"/>
                </a:moveTo>
                <a:lnTo>
                  <a:pt x="8753311" y="0"/>
                </a:lnTo>
                <a:lnTo>
                  <a:pt x="8753311" y="5831893"/>
                </a:lnTo>
                <a:lnTo>
                  <a:pt x="0" y="5831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524007">
            <a:off x="-836290" y="-14304"/>
            <a:ext cx="7435756" cy="6766538"/>
          </a:xfrm>
          <a:custGeom>
            <a:avLst/>
            <a:gdLst/>
            <a:ahLst/>
            <a:cxnLst/>
            <a:rect r="r" b="b" t="t" l="l"/>
            <a:pathLst>
              <a:path h="6766538" w="7435756">
                <a:moveTo>
                  <a:pt x="0" y="0"/>
                </a:moveTo>
                <a:lnTo>
                  <a:pt x="7435757" y="0"/>
                </a:lnTo>
                <a:lnTo>
                  <a:pt x="7435757" y="6766539"/>
                </a:lnTo>
                <a:lnTo>
                  <a:pt x="0" y="676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524007">
            <a:off x="13966872" y="4424346"/>
            <a:ext cx="7435756" cy="6766538"/>
          </a:xfrm>
          <a:custGeom>
            <a:avLst/>
            <a:gdLst/>
            <a:ahLst/>
            <a:cxnLst/>
            <a:rect r="r" b="b" t="t" l="l"/>
            <a:pathLst>
              <a:path h="6766538" w="7435756">
                <a:moveTo>
                  <a:pt x="0" y="0"/>
                </a:moveTo>
                <a:lnTo>
                  <a:pt x="7435756" y="0"/>
                </a:lnTo>
                <a:lnTo>
                  <a:pt x="7435756" y="6766539"/>
                </a:lnTo>
                <a:lnTo>
                  <a:pt x="0" y="6766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DAHSxRpro3c</dc:identifier>
  <dcterms:modified xsi:type="dcterms:W3CDTF">2011-08-01T06:04:30Z</dcterms:modified>
  <cp:revision>1</cp:revision>
  <dc:title>Propuesta_TRIBUTEK_Capstone_Simple.pptx</dc:title>
</cp:coreProperties>
</file>